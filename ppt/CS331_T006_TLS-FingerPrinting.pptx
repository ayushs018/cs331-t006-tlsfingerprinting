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nantason UltraExpanded Light" charset="1" panose="00000000000000000000"/>
      <p:regular r:id="rId12"/>
    </p:embeddedFont>
    <p:embeddedFont>
      <p:font typeface="Courier New" charset="1" panose="02070309020205020404"/>
      <p:regular r:id="rId13"/>
    </p:embeddedFont>
    <p:embeddedFont>
      <p:font typeface="Cambria Bold" charset="1" panose="02040803050406030204"/>
      <p:regular r:id="rId14"/>
    </p:embeddedFont>
    <p:embeddedFont>
      <p:font typeface="Calibri (MS)" charset="1" panose="020F0502020204030204"/>
      <p:regular r:id="rId15"/>
    </p:embeddedFont>
    <p:embeddedFont>
      <p:font typeface="Calibri (MS) Bold" charset="1" panose="020F07020304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533CD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36100"/>
            <a:ext cx="15531868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56958"/>
            <a:ext cx="607417" cy="664210"/>
          </a:xfrm>
          <a:custGeom>
            <a:avLst/>
            <a:gdLst/>
            <a:ahLst/>
            <a:cxnLst/>
            <a:rect r="r" b="b" t="t" l="l"/>
            <a:pathLst>
              <a:path h="664210" w="607417">
                <a:moveTo>
                  <a:pt x="0" y="0"/>
                </a:moveTo>
                <a:lnTo>
                  <a:pt x="607417" y="0"/>
                </a:lnTo>
                <a:lnTo>
                  <a:pt x="607417" y="664210"/>
                </a:lnTo>
                <a:lnTo>
                  <a:pt x="0" y="66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nantason UltraExpanded Light"/>
                <a:ea typeface="Anantason UltraExpanded Light"/>
                <a:cs typeface="Anantason UltraExpanded Light"/>
                <a:sym typeface="Anantason UltraExpanded Light"/>
              </a:rPr>
              <a:t>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34440" y="2331720"/>
            <a:ext cx="15773400" cy="548640"/>
            <a:chOff x="0" y="0"/>
            <a:chExt cx="210312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spc="300">
                  <a:solidFill>
                    <a:srgbClr val="35C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CS331 COMPUTER NETWORKS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3387852"/>
            <a:ext cx="15773400" cy="2194560"/>
            <a:chOff x="0" y="0"/>
            <a:chExt cx="21031200" cy="2926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03120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JA3 / JA3S TLS Fingerprinting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6917055"/>
            <a:ext cx="12226290" cy="1568958"/>
            <a:chOff x="0" y="0"/>
            <a:chExt cx="16301720" cy="20919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01720" cy="2091944"/>
            </a:xfrm>
            <a:custGeom>
              <a:avLst/>
              <a:gdLst/>
              <a:ahLst/>
              <a:cxnLst/>
              <a:rect r="r" b="b" t="t" l="l"/>
              <a:pathLst>
                <a:path h="2091944" w="16301720">
                  <a:moveTo>
                    <a:pt x="0" y="101473"/>
                  </a:moveTo>
                  <a:cubicBezTo>
                    <a:pt x="0" y="45466"/>
                    <a:pt x="45466" y="0"/>
                    <a:pt x="101473" y="0"/>
                  </a:cubicBezTo>
                  <a:lnTo>
                    <a:pt x="16200247" y="0"/>
                  </a:lnTo>
                  <a:cubicBezTo>
                    <a:pt x="16256254" y="0"/>
                    <a:pt x="16301720" y="45466"/>
                    <a:pt x="16301720" y="101473"/>
                  </a:cubicBezTo>
                  <a:lnTo>
                    <a:pt x="16301720" y="1990471"/>
                  </a:lnTo>
                  <a:cubicBezTo>
                    <a:pt x="16301720" y="2046478"/>
                    <a:pt x="16256254" y="2091944"/>
                    <a:pt x="16200247" y="2091944"/>
                  </a:cubicBezTo>
                  <a:lnTo>
                    <a:pt x="101473" y="2091944"/>
                  </a:lnTo>
                  <a:cubicBezTo>
                    <a:pt x="45466" y="2091944"/>
                    <a:pt x="0" y="2046478"/>
                    <a:pt x="0" y="19904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26353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77340" y="7159752"/>
            <a:ext cx="2743200" cy="548640"/>
            <a:chOff x="0" y="0"/>
            <a:chExt cx="36576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657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5C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 ID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89120" y="7159752"/>
            <a:ext cx="8778240" cy="548640"/>
            <a:chOff x="0" y="0"/>
            <a:chExt cx="117043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43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7043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(TLS Fingerprinting)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77340" y="7804404"/>
            <a:ext cx="2743200" cy="548640"/>
            <a:chOff x="0" y="0"/>
            <a:chExt cx="36576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657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5C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TEAM ID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89120" y="7804404"/>
            <a:ext cx="8778240" cy="548640"/>
            <a:chOff x="0" y="0"/>
            <a:chExt cx="117043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7043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3A2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T006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36100"/>
            <a:ext cx="15531868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051165"/>
            <a:ext cx="18288000" cy="6184669"/>
          </a:xfrm>
          <a:custGeom>
            <a:avLst/>
            <a:gdLst/>
            <a:ahLst/>
            <a:cxnLst/>
            <a:rect r="r" b="b" t="t" l="l"/>
            <a:pathLst>
              <a:path h="6184669" w="18288000">
                <a:moveTo>
                  <a:pt x="0" y="0"/>
                </a:moveTo>
                <a:lnTo>
                  <a:pt x="18288000" y="0"/>
                </a:lnTo>
                <a:lnTo>
                  <a:pt x="18288000" y="6184670"/>
                </a:lnTo>
                <a:lnTo>
                  <a:pt x="0" y="6184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nantason UltraExpanded Light"/>
                <a:ea typeface="Anantason UltraExpanded Light"/>
                <a:cs typeface="Anantason UltraExpanded Light"/>
                <a:sym typeface="Anantason UltraExpanded Light"/>
              </a:rPr>
              <a:t>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576072"/>
            <a:ext cx="10972800" cy="593674"/>
            <a:chOff x="0" y="0"/>
            <a:chExt cx="14630400" cy="791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791566"/>
            </a:xfrm>
            <a:custGeom>
              <a:avLst/>
              <a:gdLst/>
              <a:ahLst/>
              <a:cxnLst/>
              <a:rect r="r" b="b" t="t" l="l"/>
              <a:pathLst>
                <a:path h="7915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91566"/>
                  </a:lnTo>
                  <a:lnTo>
                    <a:pt x="0" y="791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9708" r="0" b="-3005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801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spc="366">
                  <a:solidFill>
                    <a:srgbClr val="35C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01 · PROBLEM STATEMENT &amp; OBJECTIVES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028700"/>
            <a:ext cx="16184880" cy="1234440"/>
            <a:chOff x="0" y="0"/>
            <a:chExt cx="2157984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Identify the client, not just the traffic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400300"/>
            <a:ext cx="16322040" cy="1371600"/>
            <a:chOff x="0" y="0"/>
            <a:chExt cx="2176272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2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871" r="0" b="-18187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7627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0B7C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TLS encrypts everything after the handshake — but the ClientHello/ServerHello themselves are sent in plaintext. Their exact cipher suites, extensions, and ordering aren't random: they're baked into whichever TLS library built the connection. JA3 reduces that shape to one short, comparable hash.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3435" y="4105275"/>
            <a:ext cx="3146298" cy="4819650"/>
            <a:chOff x="0" y="0"/>
            <a:chExt cx="4195064" cy="642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95064" cy="6426200"/>
            </a:xfrm>
            <a:custGeom>
              <a:avLst/>
              <a:gdLst/>
              <a:ahLst/>
              <a:cxnLst/>
              <a:rect r="r" b="b" t="t" l="l"/>
              <a:pathLst>
                <a:path h="6426200" w="4195064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029456" y="0"/>
                  </a:lnTo>
                  <a:cubicBezTo>
                    <a:pt x="4120896" y="0"/>
                    <a:pt x="4195064" y="74168"/>
                    <a:pt x="4195064" y="165608"/>
                  </a:cubicBezTo>
                  <a:lnTo>
                    <a:pt x="4195064" y="6260592"/>
                  </a:lnTo>
                  <a:cubicBezTo>
                    <a:pt x="4195064" y="6352032"/>
                    <a:pt x="4120896" y="6426200"/>
                    <a:pt x="4029456" y="6426200"/>
                  </a:cubicBezTo>
                  <a:lnTo>
                    <a:pt x="165608" y="6426200"/>
                  </a:lnTo>
                  <a:cubicBezTo>
                    <a:pt x="74168" y="6426200"/>
                    <a:pt x="0" y="6352032"/>
                    <a:pt x="0" y="626059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3533C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24712" y="4443984"/>
            <a:ext cx="630936" cy="630936"/>
            <a:chOff x="0" y="0"/>
            <a:chExt cx="841248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7C8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4712" y="4423410"/>
            <a:ext cx="630936" cy="630936"/>
            <a:chOff x="0" y="0"/>
            <a:chExt cx="841248" cy="8412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5417820"/>
            <a:ext cx="2578608" cy="1577340"/>
            <a:chOff x="0" y="0"/>
            <a:chExt cx="3438144" cy="2103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38144" cy="2103120"/>
            </a:xfrm>
            <a:custGeom>
              <a:avLst/>
              <a:gdLst/>
              <a:ahLst/>
              <a:cxnLst/>
              <a:rect r="r" b="b" t="t" l="l"/>
              <a:pathLst>
                <a:path h="210312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483" t="0" r="-2848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438144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Build a working JA3/JA3S extractor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7063740"/>
            <a:ext cx="2578608" cy="1645920"/>
            <a:chOff x="0" y="0"/>
            <a:chExt cx="3438144" cy="219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38144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438144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raw TCP bytes to a fingerprint — no third-party JA3 library.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105275" y="4105275"/>
            <a:ext cx="3146298" cy="4819650"/>
            <a:chOff x="0" y="0"/>
            <a:chExt cx="4195064" cy="642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5064" cy="6426200"/>
            </a:xfrm>
            <a:custGeom>
              <a:avLst/>
              <a:gdLst/>
              <a:ahLst/>
              <a:cxnLst/>
              <a:rect r="r" b="b" t="t" l="l"/>
              <a:pathLst>
                <a:path h="6426200" w="4195064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029456" y="0"/>
                  </a:lnTo>
                  <a:cubicBezTo>
                    <a:pt x="4120896" y="0"/>
                    <a:pt x="4195064" y="74168"/>
                    <a:pt x="4195064" y="165608"/>
                  </a:cubicBezTo>
                  <a:lnTo>
                    <a:pt x="4195064" y="6260592"/>
                  </a:lnTo>
                  <a:cubicBezTo>
                    <a:pt x="4195064" y="6352032"/>
                    <a:pt x="4120896" y="6426200"/>
                    <a:pt x="4029456" y="6426200"/>
                  </a:cubicBezTo>
                  <a:lnTo>
                    <a:pt x="165608" y="6426200"/>
                  </a:lnTo>
                  <a:cubicBezTo>
                    <a:pt x="74168" y="6426200"/>
                    <a:pt x="0" y="6352032"/>
                    <a:pt x="0" y="626059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3533C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416552" y="4443984"/>
            <a:ext cx="630936" cy="630936"/>
            <a:chOff x="0" y="0"/>
            <a:chExt cx="841248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7C8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416552" y="4423410"/>
            <a:ext cx="630936" cy="630936"/>
            <a:chOff x="0" y="0"/>
            <a:chExt cx="841248" cy="841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389120" y="5417820"/>
            <a:ext cx="2578608" cy="1577340"/>
            <a:chOff x="0" y="0"/>
            <a:chExt cx="3438144" cy="2103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38144" cy="2103120"/>
            </a:xfrm>
            <a:custGeom>
              <a:avLst/>
              <a:gdLst/>
              <a:ahLst/>
              <a:cxnLst/>
              <a:rect r="r" b="b" t="t" l="l"/>
              <a:pathLst>
                <a:path h="210312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483" t="0" r="-2848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438144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Validate against published reference hashes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389120" y="7063740"/>
            <a:ext cx="2578608" cy="1645920"/>
            <a:chOff x="0" y="0"/>
            <a:chExt cx="3438144" cy="2194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38144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438144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just our own math — an independent, external source.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397115" y="4105275"/>
            <a:ext cx="3146298" cy="4819650"/>
            <a:chOff x="0" y="0"/>
            <a:chExt cx="4195064" cy="6426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95064" cy="6426200"/>
            </a:xfrm>
            <a:custGeom>
              <a:avLst/>
              <a:gdLst/>
              <a:ahLst/>
              <a:cxnLst/>
              <a:rect r="r" b="b" t="t" l="l"/>
              <a:pathLst>
                <a:path h="6426200" w="4195064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029456" y="0"/>
                  </a:lnTo>
                  <a:cubicBezTo>
                    <a:pt x="4120896" y="0"/>
                    <a:pt x="4195064" y="74168"/>
                    <a:pt x="4195064" y="165608"/>
                  </a:cubicBezTo>
                  <a:lnTo>
                    <a:pt x="4195064" y="6260592"/>
                  </a:lnTo>
                  <a:cubicBezTo>
                    <a:pt x="4195064" y="6352032"/>
                    <a:pt x="4120896" y="6426200"/>
                    <a:pt x="4029456" y="6426200"/>
                  </a:cubicBezTo>
                  <a:lnTo>
                    <a:pt x="165608" y="6426200"/>
                  </a:lnTo>
                  <a:cubicBezTo>
                    <a:pt x="74168" y="6426200"/>
                    <a:pt x="0" y="6352032"/>
                    <a:pt x="0" y="626059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708392" y="4443984"/>
            <a:ext cx="630936" cy="630936"/>
            <a:chOff x="0" y="0"/>
            <a:chExt cx="841248" cy="8412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7C8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08392" y="4423410"/>
            <a:ext cx="630936" cy="630936"/>
            <a:chOff x="0" y="0"/>
            <a:chExt cx="841248" cy="8412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680960" y="5417820"/>
            <a:ext cx="2578608" cy="1577340"/>
            <a:chOff x="0" y="0"/>
            <a:chExt cx="3438144" cy="2103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38144" cy="2103120"/>
            </a:xfrm>
            <a:custGeom>
              <a:avLst/>
              <a:gdLst/>
              <a:ahLst/>
              <a:cxnLst/>
              <a:rect r="r" b="b" t="t" l="l"/>
              <a:pathLst>
                <a:path h="210312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483" t="0" r="-2848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438144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Curate a DB identifying ≥ 5 distinct clients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680960" y="7063740"/>
            <a:ext cx="2578608" cy="1645920"/>
            <a:chOff x="0" y="0"/>
            <a:chExt cx="3438144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38144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438144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fingerprint alone, no IP/port/User-Agent involved.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688955" y="4105275"/>
            <a:ext cx="3146298" cy="4819650"/>
            <a:chOff x="0" y="0"/>
            <a:chExt cx="4195064" cy="6426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95064" cy="6426200"/>
            </a:xfrm>
            <a:custGeom>
              <a:avLst/>
              <a:gdLst/>
              <a:ahLst/>
              <a:cxnLst/>
              <a:rect r="r" b="b" t="t" l="l"/>
              <a:pathLst>
                <a:path h="6426200" w="4195064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029456" y="0"/>
                  </a:lnTo>
                  <a:cubicBezTo>
                    <a:pt x="4120896" y="0"/>
                    <a:pt x="4195064" y="74168"/>
                    <a:pt x="4195064" y="165608"/>
                  </a:cubicBezTo>
                  <a:lnTo>
                    <a:pt x="4195064" y="6260592"/>
                  </a:lnTo>
                  <a:cubicBezTo>
                    <a:pt x="4195064" y="6352032"/>
                    <a:pt x="4120896" y="6426200"/>
                    <a:pt x="4029456" y="6426200"/>
                  </a:cubicBezTo>
                  <a:lnTo>
                    <a:pt x="165608" y="6426200"/>
                  </a:lnTo>
                  <a:cubicBezTo>
                    <a:pt x="74168" y="6426200"/>
                    <a:pt x="0" y="6352032"/>
                    <a:pt x="0" y="626059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000232" y="4443984"/>
            <a:ext cx="630936" cy="630936"/>
            <a:chOff x="0" y="0"/>
            <a:chExt cx="841248" cy="8412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7C8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000232" y="4423410"/>
            <a:ext cx="630936" cy="630936"/>
            <a:chOff x="0" y="0"/>
            <a:chExt cx="841248" cy="8412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972800" y="5417820"/>
            <a:ext cx="2578608" cy="1577340"/>
            <a:chOff x="0" y="0"/>
            <a:chExt cx="3438144" cy="2103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38144" cy="2103120"/>
            </a:xfrm>
            <a:custGeom>
              <a:avLst/>
              <a:gdLst/>
              <a:ahLst/>
              <a:cxnLst/>
              <a:rect r="r" b="b" t="t" l="l"/>
              <a:pathLst>
                <a:path h="210312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483" t="0" r="-2848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438144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Distinguish curl vs. browser vs. custom client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972800" y="7063740"/>
            <a:ext cx="2578608" cy="1645920"/>
            <a:chOff x="0" y="0"/>
            <a:chExt cx="3438144" cy="21945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38144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438144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Live, on the wire, passively captured.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980795" y="4105275"/>
            <a:ext cx="3146298" cy="4819650"/>
            <a:chOff x="0" y="0"/>
            <a:chExt cx="4195064" cy="6426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95064" cy="6426200"/>
            </a:xfrm>
            <a:custGeom>
              <a:avLst/>
              <a:gdLst/>
              <a:ahLst/>
              <a:cxnLst/>
              <a:rect r="r" b="b" t="t" l="l"/>
              <a:pathLst>
                <a:path h="6426200" w="4195064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4029456" y="0"/>
                  </a:lnTo>
                  <a:cubicBezTo>
                    <a:pt x="4120896" y="0"/>
                    <a:pt x="4195064" y="74168"/>
                    <a:pt x="4195064" y="165608"/>
                  </a:cubicBezTo>
                  <a:lnTo>
                    <a:pt x="4195064" y="6260592"/>
                  </a:lnTo>
                  <a:cubicBezTo>
                    <a:pt x="4195064" y="6352032"/>
                    <a:pt x="4120896" y="6426200"/>
                    <a:pt x="4029456" y="6426200"/>
                  </a:cubicBezTo>
                  <a:lnTo>
                    <a:pt x="165608" y="6426200"/>
                  </a:lnTo>
                  <a:cubicBezTo>
                    <a:pt x="74168" y="6426200"/>
                    <a:pt x="0" y="6352032"/>
                    <a:pt x="0" y="626059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292072" y="4443984"/>
            <a:ext cx="630936" cy="630936"/>
            <a:chOff x="0" y="0"/>
            <a:chExt cx="841248" cy="8412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7C8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292072" y="4423410"/>
            <a:ext cx="630936" cy="630936"/>
            <a:chOff x="0" y="0"/>
            <a:chExt cx="841248" cy="8412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264640" y="5417820"/>
            <a:ext cx="2578608" cy="1577340"/>
            <a:chOff x="0" y="0"/>
            <a:chExt cx="3438144" cy="21031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38144" cy="2103120"/>
            </a:xfrm>
            <a:custGeom>
              <a:avLst/>
              <a:gdLst/>
              <a:ahLst/>
              <a:cxnLst/>
              <a:rect r="r" b="b" t="t" l="l"/>
              <a:pathLst>
                <a:path h="210312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483" t="0" r="-2848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3438144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Understand security role + limitations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264640" y="7063740"/>
            <a:ext cx="2578608" cy="1645920"/>
            <a:chOff x="0" y="0"/>
            <a:chExt cx="3438144" cy="21945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438144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438144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C2 detection, bot detection, and evasion via randomization.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51165"/>
            <a:ext cx="18288000" cy="6184669"/>
          </a:xfrm>
          <a:custGeom>
            <a:avLst/>
            <a:gdLst/>
            <a:ahLst/>
            <a:cxnLst/>
            <a:rect r="r" b="b" t="t" l="l"/>
            <a:pathLst>
              <a:path h="6184669" w="18288000">
                <a:moveTo>
                  <a:pt x="0" y="0"/>
                </a:moveTo>
                <a:lnTo>
                  <a:pt x="18288000" y="0"/>
                </a:lnTo>
                <a:lnTo>
                  <a:pt x="18288000" y="6184670"/>
                </a:lnTo>
                <a:lnTo>
                  <a:pt x="0" y="6184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436100"/>
            <a:ext cx="15531868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nantason UltraExpanded Light"/>
                <a:ea typeface="Anantason UltraExpanded Light"/>
                <a:cs typeface="Anantason UltraExpanded Light"/>
                <a:sym typeface="Anantason UltraExpanded Light"/>
              </a:rPr>
              <a:t>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0339" y="1028700"/>
            <a:ext cx="10972800" cy="593674"/>
            <a:chOff x="0" y="0"/>
            <a:chExt cx="14630400" cy="791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791566"/>
            </a:xfrm>
            <a:custGeom>
              <a:avLst/>
              <a:gdLst/>
              <a:ahLst/>
              <a:cxnLst/>
              <a:rect r="r" b="b" t="t" l="l"/>
              <a:pathLst>
                <a:path h="7915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91566"/>
                  </a:lnTo>
                  <a:lnTo>
                    <a:pt x="0" y="791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9708" r="0" b="-3005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801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spc="366">
                  <a:solidFill>
                    <a:srgbClr val="35C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02 · ARCHITECTURE &amp; MECHANISM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0339" y="1481328"/>
            <a:ext cx="16184880" cy="1234440"/>
            <a:chOff x="0" y="0"/>
            <a:chExt cx="2157984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a capture becomes a verdict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8433" y="3183922"/>
            <a:ext cx="2835592" cy="1189673"/>
            <a:chOff x="0" y="0"/>
            <a:chExt cx="3780790" cy="15862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0790" cy="1586230"/>
            </a:xfrm>
            <a:custGeom>
              <a:avLst/>
              <a:gdLst/>
              <a:ahLst/>
              <a:cxnLst/>
              <a:rect r="r" b="b" t="t" l="l"/>
              <a:pathLst>
                <a:path h="1586230" w="378079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3650107" y="0"/>
                  </a:lnTo>
                  <a:cubicBezTo>
                    <a:pt x="3722243" y="0"/>
                    <a:pt x="3780790" y="58420"/>
                    <a:pt x="3780790" y="130683"/>
                  </a:cubicBezTo>
                  <a:lnTo>
                    <a:pt x="3780790" y="1455547"/>
                  </a:lnTo>
                  <a:cubicBezTo>
                    <a:pt x="3780790" y="1527683"/>
                    <a:pt x="3722370" y="1586230"/>
                    <a:pt x="3650107" y="1586230"/>
                  </a:cubicBezTo>
                  <a:lnTo>
                    <a:pt x="130683" y="1586230"/>
                  </a:lnTo>
                  <a:cubicBezTo>
                    <a:pt x="58420" y="1586230"/>
                    <a:pt x="0" y="1527810"/>
                    <a:pt x="0" y="145554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23812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10339" y="3374136"/>
            <a:ext cx="2811780" cy="480060"/>
            <a:chOff x="0" y="0"/>
            <a:chExt cx="37490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49040" cy="640080"/>
            </a:xfrm>
            <a:custGeom>
              <a:avLst/>
              <a:gdLst/>
              <a:ahLst/>
              <a:cxnLst/>
              <a:rect r="r" b="b" t="t" l="l"/>
              <a:pathLst>
                <a:path h="64008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749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Wire bytes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0339" y="3840480"/>
            <a:ext cx="2811780" cy="411480"/>
            <a:chOff x="0" y="0"/>
            <a:chExt cx="374904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49040" cy="548640"/>
            </a:xfrm>
            <a:custGeom>
              <a:avLst/>
              <a:gdLst/>
              <a:ahLst/>
              <a:cxnLst/>
              <a:rect r="r" b="b" t="t" l="l"/>
              <a:pathLst>
                <a:path h="54864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749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TCP :443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3607835" y="3764472"/>
            <a:ext cx="782958" cy="28573"/>
          </a:xfrm>
          <a:prstGeom prst="line">
            <a:avLst/>
          </a:prstGeom>
          <a:ln cap="rnd" w="19050">
            <a:solidFill>
              <a:srgbClr val="55666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4364593" y="3183922"/>
            <a:ext cx="2835592" cy="1189673"/>
            <a:chOff x="0" y="0"/>
            <a:chExt cx="3780790" cy="15862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80790" cy="1586230"/>
            </a:xfrm>
            <a:custGeom>
              <a:avLst/>
              <a:gdLst/>
              <a:ahLst/>
              <a:cxnLst/>
              <a:rect r="r" b="b" t="t" l="l"/>
              <a:pathLst>
                <a:path h="1586230" w="378079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3650107" y="0"/>
                  </a:lnTo>
                  <a:cubicBezTo>
                    <a:pt x="3722243" y="0"/>
                    <a:pt x="3780790" y="58420"/>
                    <a:pt x="3780790" y="130683"/>
                  </a:cubicBezTo>
                  <a:lnTo>
                    <a:pt x="3780790" y="1455547"/>
                  </a:lnTo>
                  <a:cubicBezTo>
                    <a:pt x="3780790" y="1527683"/>
                    <a:pt x="3722370" y="1586230"/>
                    <a:pt x="3650107" y="1586230"/>
                  </a:cubicBezTo>
                  <a:lnTo>
                    <a:pt x="130683" y="1586230"/>
                  </a:lnTo>
                  <a:cubicBezTo>
                    <a:pt x="58420" y="1586230"/>
                    <a:pt x="0" y="1527810"/>
                    <a:pt x="0" y="145554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23812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376499" y="3374136"/>
            <a:ext cx="2811780" cy="480060"/>
            <a:chOff x="0" y="0"/>
            <a:chExt cx="374904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49040" cy="640080"/>
            </a:xfrm>
            <a:custGeom>
              <a:avLst/>
              <a:gdLst/>
              <a:ahLst/>
              <a:cxnLst/>
              <a:rect r="r" b="b" t="t" l="l"/>
              <a:pathLst>
                <a:path h="64008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749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Sniffer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376499" y="3840480"/>
            <a:ext cx="2811780" cy="411480"/>
            <a:chOff x="0" y="0"/>
            <a:chExt cx="374904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49040" cy="548640"/>
            </a:xfrm>
            <a:custGeom>
              <a:avLst/>
              <a:gdLst/>
              <a:ahLst/>
              <a:cxnLst/>
              <a:rect r="r" b="b" t="t" l="l"/>
              <a:pathLst>
                <a:path h="54864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749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sniffer.py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7173995" y="3764472"/>
            <a:ext cx="782958" cy="28573"/>
          </a:xfrm>
          <a:prstGeom prst="line">
            <a:avLst/>
          </a:prstGeom>
          <a:ln cap="rnd" w="19050">
            <a:solidFill>
              <a:srgbClr val="55666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7930753" y="3183922"/>
            <a:ext cx="2835592" cy="1189673"/>
            <a:chOff x="0" y="0"/>
            <a:chExt cx="3780790" cy="15862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80790" cy="1586230"/>
            </a:xfrm>
            <a:custGeom>
              <a:avLst/>
              <a:gdLst/>
              <a:ahLst/>
              <a:cxnLst/>
              <a:rect r="r" b="b" t="t" l="l"/>
              <a:pathLst>
                <a:path h="1586230" w="378079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3650107" y="0"/>
                  </a:lnTo>
                  <a:cubicBezTo>
                    <a:pt x="3722243" y="0"/>
                    <a:pt x="3780790" y="58420"/>
                    <a:pt x="3780790" y="130683"/>
                  </a:cubicBezTo>
                  <a:lnTo>
                    <a:pt x="3780790" y="1455547"/>
                  </a:lnTo>
                  <a:cubicBezTo>
                    <a:pt x="3780790" y="1527683"/>
                    <a:pt x="3722370" y="1586230"/>
                    <a:pt x="3650107" y="1586230"/>
                  </a:cubicBezTo>
                  <a:lnTo>
                    <a:pt x="130683" y="1586230"/>
                  </a:lnTo>
                  <a:cubicBezTo>
                    <a:pt x="58420" y="1586230"/>
                    <a:pt x="0" y="1527810"/>
                    <a:pt x="0" y="145554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23812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942659" y="3374136"/>
            <a:ext cx="2811780" cy="480060"/>
            <a:chOff x="0" y="0"/>
            <a:chExt cx="374904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49040" cy="640080"/>
            </a:xfrm>
            <a:custGeom>
              <a:avLst/>
              <a:gdLst/>
              <a:ahLst/>
              <a:cxnLst/>
              <a:rect r="r" b="b" t="t" l="l"/>
              <a:pathLst>
                <a:path h="64008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749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Parser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942659" y="3840480"/>
            <a:ext cx="2811780" cy="411480"/>
            <a:chOff x="0" y="0"/>
            <a:chExt cx="374904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49040" cy="548640"/>
            </a:xfrm>
            <a:custGeom>
              <a:avLst/>
              <a:gdLst/>
              <a:ahLst/>
              <a:cxnLst/>
              <a:rect r="r" b="b" t="t" l="l"/>
              <a:pathLst>
                <a:path h="54864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749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parser.py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0740155" y="3764472"/>
            <a:ext cx="782958" cy="28573"/>
          </a:xfrm>
          <a:prstGeom prst="line">
            <a:avLst/>
          </a:prstGeom>
          <a:ln cap="rnd" w="19050">
            <a:solidFill>
              <a:srgbClr val="55666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1496913" y="3183922"/>
            <a:ext cx="2835592" cy="1189673"/>
            <a:chOff x="0" y="0"/>
            <a:chExt cx="3780790" cy="15862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80790" cy="1586230"/>
            </a:xfrm>
            <a:custGeom>
              <a:avLst/>
              <a:gdLst/>
              <a:ahLst/>
              <a:cxnLst/>
              <a:rect r="r" b="b" t="t" l="l"/>
              <a:pathLst>
                <a:path h="1586230" w="378079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3650107" y="0"/>
                  </a:lnTo>
                  <a:cubicBezTo>
                    <a:pt x="3722243" y="0"/>
                    <a:pt x="3780790" y="58420"/>
                    <a:pt x="3780790" y="130683"/>
                  </a:cubicBezTo>
                  <a:lnTo>
                    <a:pt x="3780790" y="1455547"/>
                  </a:lnTo>
                  <a:cubicBezTo>
                    <a:pt x="3780790" y="1527683"/>
                    <a:pt x="3722370" y="1586230"/>
                    <a:pt x="3650107" y="1586230"/>
                  </a:cubicBezTo>
                  <a:lnTo>
                    <a:pt x="130683" y="1586230"/>
                  </a:lnTo>
                  <a:cubicBezTo>
                    <a:pt x="58420" y="1586230"/>
                    <a:pt x="0" y="1527810"/>
                    <a:pt x="0" y="145554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23812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508819" y="3374136"/>
            <a:ext cx="2811780" cy="480060"/>
            <a:chOff x="0" y="0"/>
            <a:chExt cx="374904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49040" cy="640080"/>
            </a:xfrm>
            <a:custGeom>
              <a:avLst/>
              <a:gdLst/>
              <a:ahLst/>
              <a:cxnLst/>
              <a:rect r="r" b="b" t="t" l="l"/>
              <a:pathLst>
                <a:path h="64008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749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JA3 hash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508819" y="3840480"/>
            <a:ext cx="2811780" cy="411480"/>
            <a:chOff x="0" y="0"/>
            <a:chExt cx="374904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749040" cy="548640"/>
            </a:xfrm>
            <a:custGeom>
              <a:avLst/>
              <a:gdLst/>
              <a:ahLst/>
              <a:cxnLst/>
              <a:rect r="r" b="b" t="t" l="l"/>
              <a:pathLst>
                <a:path h="54864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749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ja3.py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11494534" y="4347401"/>
            <a:ext cx="28571" cy="508633"/>
          </a:xfrm>
          <a:prstGeom prst="line">
            <a:avLst/>
          </a:prstGeom>
          <a:ln cap="rnd" w="19050">
            <a:solidFill>
              <a:srgbClr val="55666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7" id="47"/>
          <p:cNvGrpSpPr/>
          <p:nvPr/>
        </p:nvGrpSpPr>
        <p:grpSpPr>
          <a:xfrm rot="0">
            <a:off x="9610963" y="4829842"/>
            <a:ext cx="3795712" cy="1189673"/>
            <a:chOff x="0" y="0"/>
            <a:chExt cx="5060950" cy="15862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60950" cy="1586230"/>
            </a:xfrm>
            <a:custGeom>
              <a:avLst/>
              <a:gdLst/>
              <a:ahLst/>
              <a:cxnLst/>
              <a:rect r="r" b="b" t="t" l="l"/>
              <a:pathLst>
                <a:path h="1586230" w="5060950">
                  <a:moveTo>
                    <a:pt x="0" y="130683"/>
                  </a:moveTo>
                  <a:cubicBezTo>
                    <a:pt x="0" y="58420"/>
                    <a:pt x="58420" y="0"/>
                    <a:pt x="130683" y="0"/>
                  </a:cubicBezTo>
                  <a:lnTo>
                    <a:pt x="4930267" y="0"/>
                  </a:lnTo>
                  <a:cubicBezTo>
                    <a:pt x="5002403" y="0"/>
                    <a:pt x="5060950" y="58420"/>
                    <a:pt x="5060950" y="130683"/>
                  </a:cubicBezTo>
                  <a:lnTo>
                    <a:pt x="5060950" y="1455547"/>
                  </a:lnTo>
                  <a:cubicBezTo>
                    <a:pt x="5060950" y="1527683"/>
                    <a:pt x="5002530" y="1586230"/>
                    <a:pt x="4930267" y="1586230"/>
                  </a:cubicBezTo>
                  <a:lnTo>
                    <a:pt x="130683" y="1586230"/>
                  </a:lnTo>
                  <a:cubicBezTo>
                    <a:pt x="58420" y="1586230"/>
                    <a:pt x="0" y="1527810"/>
                    <a:pt x="0" y="145554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23812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22869" y="5020056"/>
            <a:ext cx="3771900" cy="480060"/>
            <a:chOff x="0" y="0"/>
            <a:chExt cx="502920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02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029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Redis lookup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22869" y="5486400"/>
            <a:ext cx="3771900" cy="411480"/>
            <a:chOff x="0" y="0"/>
            <a:chExt cx="50292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2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02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exact hash match?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>
            <a:off x="13380482" y="5410388"/>
            <a:ext cx="714375" cy="28580"/>
          </a:xfrm>
          <a:prstGeom prst="line">
            <a:avLst/>
          </a:prstGeom>
          <a:ln cap="rnd" w="19050">
            <a:solidFill>
              <a:srgbClr val="2F7D4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6" id="56"/>
          <p:cNvGrpSpPr/>
          <p:nvPr/>
        </p:nvGrpSpPr>
        <p:grpSpPr>
          <a:xfrm rot="0">
            <a:off x="13394769" y="4985766"/>
            <a:ext cx="685800" cy="342900"/>
            <a:chOff x="0" y="0"/>
            <a:chExt cx="914400" cy="457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457200"/>
            </a:xfrm>
            <a:custGeom>
              <a:avLst/>
              <a:gdLst/>
              <a:ahLst/>
              <a:cxnLst/>
              <a:rect r="r" b="b" t="t" l="l"/>
              <a:pathLst>
                <a:path h="457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9144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hit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066282" y="4861750"/>
            <a:ext cx="2977515" cy="1125855"/>
            <a:chOff x="0" y="0"/>
            <a:chExt cx="3970020" cy="15011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70020" cy="1501140"/>
            </a:xfrm>
            <a:custGeom>
              <a:avLst/>
              <a:gdLst/>
              <a:ahLst/>
              <a:cxnLst/>
              <a:rect r="r" b="b" t="t" l="l"/>
              <a:pathLst>
                <a:path h="1501140" w="397002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3838702" y="0"/>
                  </a:lnTo>
                  <a:cubicBezTo>
                    <a:pt x="3911219" y="0"/>
                    <a:pt x="3970020" y="58801"/>
                    <a:pt x="3970020" y="131318"/>
                  </a:cubicBezTo>
                  <a:lnTo>
                    <a:pt x="3970020" y="1369822"/>
                  </a:lnTo>
                  <a:cubicBezTo>
                    <a:pt x="3970020" y="1442339"/>
                    <a:pt x="3911219" y="1501140"/>
                    <a:pt x="3838702" y="1501140"/>
                  </a:cubicBezTo>
                  <a:lnTo>
                    <a:pt x="131318" y="1501140"/>
                  </a:lnTo>
                  <a:cubicBezTo>
                    <a:pt x="58801" y="1501140"/>
                    <a:pt x="0" y="1442339"/>
                    <a:pt x="0" y="136982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28575" cap="sq">
              <a:solidFill>
                <a:srgbClr val="2F7D4F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080569" y="5040630"/>
            <a:ext cx="2948940" cy="411480"/>
            <a:chOff x="0" y="0"/>
            <a:chExt cx="393192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3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39319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Label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080569" y="5452110"/>
            <a:ext cx="2948940" cy="411480"/>
            <a:chOff x="0" y="0"/>
            <a:chExt cx="393192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3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9319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trusted, exact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>
            <a:off x="11494532" y="5993321"/>
            <a:ext cx="28574" cy="577213"/>
          </a:xfrm>
          <a:prstGeom prst="line">
            <a:avLst/>
          </a:prstGeom>
          <a:ln cap="rnd" w="19050">
            <a:solidFill>
              <a:srgbClr val="B5730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11783139" y="6048756"/>
            <a:ext cx="822960" cy="342900"/>
            <a:chOff x="0" y="0"/>
            <a:chExt cx="1097280" cy="457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09728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miss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70933" y="6544342"/>
            <a:ext cx="4275772" cy="1121092"/>
            <a:chOff x="0" y="0"/>
            <a:chExt cx="5701030" cy="149479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01030" cy="1494790"/>
            </a:xfrm>
            <a:custGeom>
              <a:avLst/>
              <a:gdLst/>
              <a:ahLst/>
              <a:cxnLst/>
              <a:rect r="r" b="b" t="t" l="l"/>
              <a:pathLst>
                <a:path h="1494790" w="570103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5570220" y="0"/>
                  </a:lnTo>
                  <a:cubicBezTo>
                    <a:pt x="5642483" y="0"/>
                    <a:pt x="5701030" y="58547"/>
                    <a:pt x="5701030" y="130810"/>
                  </a:cubicBezTo>
                  <a:lnTo>
                    <a:pt x="5701030" y="1363980"/>
                  </a:lnTo>
                  <a:cubicBezTo>
                    <a:pt x="5701030" y="1436243"/>
                    <a:pt x="5642483" y="1494790"/>
                    <a:pt x="5570220" y="1494790"/>
                  </a:cubicBezTo>
                  <a:lnTo>
                    <a:pt x="130810" y="1494790"/>
                  </a:lnTo>
                  <a:cubicBezTo>
                    <a:pt x="58547" y="1494790"/>
                    <a:pt x="0" y="1436243"/>
                    <a:pt x="0" y="136398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23812" cap="sq">
              <a:solidFill>
                <a:srgbClr val="55666D"/>
              </a:solidFill>
              <a:prstDash val="dash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382839" y="6720840"/>
            <a:ext cx="4251960" cy="438912"/>
            <a:chOff x="0" y="0"/>
            <a:chExt cx="5669280" cy="585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669280" cy="585216"/>
            </a:xfrm>
            <a:custGeom>
              <a:avLst/>
              <a:gdLst/>
              <a:ahLst/>
              <a:cxnLst/>
              <a:rect r="r" b="b" t="t" l="l"/>
              <a:pathLst>
                <a:path h="5852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761" r="0" b="-13876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5669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Similarity fallback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82839" y="7173468"/>
            <a:ext cx="4251960" cy="411480"/>
            <a:chOff x="0" y="0"/>
            <a:chExt cx="566928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669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match.py — weighted Jaccard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>
            <a:off x="13620515" y="7090599"/>
            <a:ext cx="920119" cy="28578"/>
          </a:xfrm>
          <a:prstGeom prst="line">
            <a:avLst/>
          </a:prstGeom>
          <a:ln cap="rnd" w="19050">
            <a:solidFill>
              <a:srgbClr val="B5730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0" id="80"/>
          <p:cNvGrpSpPr/>
          <p:nvPr/>
        </p:nvGrpSpPr>
        <p:grpSpPr>
          <a:xfrm rot="0">
            <a:off x="13634799" y="6665976"/>
            <a:ext cx="891540" cy="342900"/>
            <a:chOff x="0" y="0"/>
            <a:chExt cx="1188720" cy="457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88720" cy="457200"/>
            </a:xfrm>
            <a:custGeom>
              <a:avLst/>
              <a:gdLst/>
              <a:ahLst/>
              <a:cxnLst/>
              <a:rect r="r" b="b" t="t" l="l"/>
              <a:pathLst>
                <a:path h="45720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1887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≥ 70%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512052" y="6541960"/>
            <a:ext cx="2977515" cy="1125855"/>
            <a:chOff x="0" y="0"/>
            <a:chExt cx="3970020" cy="15011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970020" cy="1501140"/>
            </a:xfrm>
            <a:custGeom>
              <a:avLst/>
              <a:gdLst/>
              <a:ahLst/>
              <a:cxnLst/>
              <a:rect r="r" b="b" t="t" l="l"/>
              <a:pathLst>
                <a:path h="1501140" w="397002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3838702" y="0"/>
                  </a:lnTo>
                  <a:cubicBezTo>
                    <a:pt x="3911219" y="0"/>
                    <a:pt x="3970020" y="58801"/>
                    <a:pt x="3970020" y="131318"/>
                  </a:cubicBezTo>
                  <a:lnTo>
                    <a:pt x="3970020" y="1369822"/>
                  </a:lnTo>
                  <a:cubicBezTo>
                    <a:pt x="3970020" y="1442339"/>
                    <a:pt x="3911219" y="1501140"/>
                    <a:pt x="3838702" y="1501140"/>
                  </a:cubicBezTo>
                  <a:lnTo>
                    <a:pt x="131318" y="1501140"/>
                  </a:lnTo>
                  <a:cubicBezTo>
                    <a:pt x="58801" y="1501140"/>
                    <a:pt x="0" y="1442339"/>
                    <a:pt x="0" y="136982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28575" cap="sq">
              <a:solidFill>
                <a:srgbClr val="B5730B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526339" y="6720840"/>
            <a:ext cx="2948940" cy="411480"/>
            <a:chOff x="0" y="0"/>
            <a:chExt cx="393192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3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39319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~Label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526339" y="7132320"/>
            <a:ext cx="2948940" cy="411480"/>
            <a:chOff x="0" y="0"/>
            <a:chExt cx="393192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93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9319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hinted, uncertain</a:t>
              </a:r>
            </a:p>
          </p:txBody>
        </p:sp>
      </p:grpSp>
      <p:sp>
        <p:nvSpPr>
          <p:cNvPr name="AutoShape 91" id="91"/>
          <p:cNvSpPr/>
          <p:nvPr/>
        </p:nvSpPr>
        <p:spPr>
          <a:xfrm>
            <a:off x="11494531" y="7639239"/>
            <a:ext cx="28577" cy="467491"/>
          </a:xfrm>
          <a:prstGeom prst="line">
            <a:avLst/>
          </a:prstGeom>
          <a:ln cap="rnd" w="19050">
            <a:solidFill>
              <a:srgbClr val="B23A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2" id="92"/>
          <p:cNvGrpSpPr/>
          <p:nvPr/>
        </p:nvGrpSpPr>
        <p:grpSpPr>
          <a:xfrm rot="0">
            <a:off x="11783139" y="7653528"/>
            <a:ext cx="822960" cy="342900"/>
            <a:chOff x="0" y="0"/>
            <a:chExt cx="1097280" cy="457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109728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 70%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45253" y="8080534"/>
            <a:ext cx="3727133" cy="778193"/>
            <a:chOff x="0" y="0"/>
            <a:chExt cx="4969510" cy="103759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969510" cy="1037590"/>
            </a:xfrm>
            <a:custGeom>
              <a:avLst/>
              <a:gdLst/>
              <a:ahLst/>
              <a:cxnLst/>
              <a:rect r="r" b="b" t="t" l="l"/>
              <a:pathLst>
                <a:path h="1037590" w="4969510">
                  <a:moveTo>
                    <a:pt x="0" y="132080"/>
                  </a:moveTo>
                  <a:cubicBezTo>
                    <a:pt x="0" y="59182"/>
                    <a:pt x="59182" y="0"/>
                    <a:pt x="132080" y="0"/>
                  </a:cubicBezTo>
                  <a:lnTo>
                    <a:pt x="4837430" y="0"/>
                  </a:lnTo>
                  <a:cubicBezTo>
                    <a:pt x="4910328" y="0"/>
                    <a:pt x="4969510" y="59182"/>
                    <a:pt x="4969510" y="132080"/>
                  </a:cubicBezTo>
                  <a:lnTo>
                    <a:pt x="4969510" y="905510"/>
                  </a:lnTo>
                  <a:cubicBezTo>
                    <a:pt x="4969510" y="978408"/>
                    <a:pt x="4910328" y="1037590"/>
                    <a:pt x="4837430" y="1037590"/>
                  </a:cubicBezTo>
                  <a:lnTo>
                    <a:pt x="132080" y="1037590"/>
                  </a:lnTo>
                  <a:cubicBezTo>
                    <a:pt x="59182" y="1037590"/>
                    <a:pt x="0" y="978408"/>
                    <a:pt x="0" y="905510"/>
                  </a:cubicBezTo>
                  <a:close/>
                </a:path>
              </a:pathLst>
            </a:custGeom>
            <a:solidFill>
              <a:srgbClr val="FBEAEA"/>
            </a:solidFill>
            <a:ln w="23812" cap="sq">
              <a:solidFill>
                <a:srgbClr val="B23A3A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657159" y="8092440"/>
            <a:ext cx="3703320" cy="754380"/>
            <a:chOff x="0" y="0"/>
            <a:chExt cx="4937760" cy="10058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49377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Unknown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36100"/>
            <a:ext cx="15531868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nantason UltraExpanded Light"/>
                <a:ea typeface="Anantason UltraExpanded Light"/>
                <a:cs typeface="Anantason UltraExpanded Light"/>
                <a:sym typeface="Anantason UltraExpanded Light"/>
              </a:rPr>
              <a:t>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2051165"/>
            <a:ext cx="18288000" cy="6184669"/>
          </a:xfrm>
          <a:custGeom>
            <a:avLst/>
            <a:gdLst/>
            <a:ahLst/>
            <a:cxnLst/>
            <a:rect r="r" b="b" t="t" l="l"/>
            <a:pathLst>
              <a:path h="6184669" w="18288000">
                <a:moveTo>
                  <a:pt x="0" y="0"/>
                </a:moveTo>
                <a:lnTo>
                  <a:pt x="18288000" y="0"/>
                </a:lnTo>
                <a:lnTo>
                  <a:pt x="18288000" y="6184670"/>
                </a:lnTo>
                <a:lnTo>
                  <a:pt x="0" y="6184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420" y="1028700"/>
            <a:ext cx="10972800" cy="593674"/>
            <a:chOff x="0" y="0"/>
            <a:chExt cx="14630400" cy="791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791566"/>
            </a:xfrm>
            <a:custGeom>
              <a:avLst/>
              <a:gdLst/>
              <a:ahLst/>
              <a:cxnLst/>
              <a:rect r="r" b="b" t="t" l="l"/>
              <a:pathLst>
                <a:path h="7915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91566"/>
                  </a:lnTo>
                  <a:lnTo>
                    <a:pt x="0" y="791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9708" r="0" b="-3005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801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spc="366">
                  <a:solidFill>
                    <a:srgbClr val="35C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03 · EXTENSION, ISSUES FIXED &amp; EVALUATION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4420" y="1481328"/>
            <a:ext cx="16184880" cy="1234440"/>
            <a:chOff x="0" y="0"/>
            <a:chExt cx="2157984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Beyond the spec, and honestly evaluated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82565" y="2917444"/>
            <a:ext cx="7905750" cy="3242310"/>
            <a:chOff x="0" y="0"/>
            <a:chExt cx="10541000" cy="432308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541000" cy="4323080"/>
              <a:chOff x="0" y="0"/>
              <a:chExt cx="10541000" cy="43230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541000" cy="4323080"/>
              </a:xfrm>
              <a:custGeom>
                <a:avLst/>
                <a:gdLst/>
                <a:ahLst/>
                <a:cxnLst/>
                <a:rect r="r" b="b" t="t" l="l"/>
                <a:pathLst>
                  <a:path h="4323080" w="10541000">
                    <a:moveTo>
                      <a:pt x="0" y="165608"/>
                    </a:moveTo>
                    <a:cubicBezTo>
                      <a:pt x="0" y="74168"/>
                      <a:pt x="74168" y="0"/>
                      <a:pt x="165608" y="0"/>
                    </a:cubicBezTo>
                    <a:lnTo>
                      <a:pt x="10375392" y="0"/>
                    </a:lnTo>
                    <a:cubicBezTo>
                      <a:pt x="10466832" y="0"/>
                      <a:pt x="10541000" y="74168"/>
                      <a:pt x="10541000" y="165608"/>
                    </a:cubicBezTo>
                    <a:lnTo>
                      <a:pt x="10541000" y="4157472"/>
                    </a:lnTo>
                    <a:cubicBezTo>
                      <a:pt x="10541000" y="4248912"/>
                      <a:pt x="10466832" y="4323080"/>
                      <a:pt x="10375392" y="4323080"/>
                    </a:cubicBezTo>
                    <a:lnTo>
                      <a:pt x="165608" y="4323080"/>
                    </a:lnTo>
                    <a:cubicBezTo>
                      <a:pt x="74168" y="4323080"/>
                      <a:pt x="0" y="4248912"/>
                      <a:pt x="0" y="4157472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533CD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2700000"/>
              </a:gradFill>
              <a:ln w="19050" cap="sq">
                <a:solidFill>
                  <a:srgbClr val="DBE3E6"/>
                </a:solidFill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469900" y="469900"/>
              <a:ext cx="841248" cy="841248"/>
              <a:chOff x="0" y="0"/>
              <a:chExt cx="841248" cy="8412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41248" cy="841248"/>
              </a:xfrm>
              <a:custGeom>
                <a:avLst/>
                <a:gdLst/>
                <a:ahLst/>
                <a:cxnLst/>
                <a:rect r="r" b="b" t="t" l="l"/>
                <a:pathLst>
                  <a:path h="841248" w="841248">
                    <a:moveTo>
                      <a:pt x="0" y="420624"/>
                    </a:moveTo>
                    <a:cubicBezTo>
                      <a:pt x="0" y="188341"/>
                      <a:pt x="188341" y="0"/>
                      <a:pt x="420624" y="0"/>
                    </a:cubicBezTo>
                    <a:cubicBezTo>
                      <a:pt x="652907" y="0"/>
                      <a:pt x="841248" y="188341"/>
                      <a:pt x="841248" y="420624"/>
                    </a:cubicBezTo>
                    <a:cubicBezTo>
                      <a:pt x="841248" y="652907"/>
                      <a:pt x="652907" y="841248"/>
                      <a:pt x="420624" y="841248"/>
                    </a:cubicBezTo>
                    <a:cubicBezTo>
                      <a:pt x="188341" y="841248"/>
                      <a:pt x="0" y="652907"/>
                      <a:pt x="0" y="420624"/>
                    </a:cubicBezTo>
                    <a:close/>
                  </a:path>
                </a:pathLst>
              </a:custGeom>
              <a:solidFill>
                <a:srgbClr val="0B7C8C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469900" y="442468"/>
              <a:ext cx="841248" cy="841248"/>
              <a:chOff x="0" y="0"/>
              <a:chExt cx="841248" cy="8412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41248" cy="841248"/>
              </a:xfrm>
              <a:custGeom>
                <a:avLst/>
                <a:gdLst/>
                <a:ahLst/>
                <a:cxnLst/>
                <a:rect r="r" b="b" t="t" l="l"/>
                <a:pathLst>
                  <a:path h="841248" w="841248">
                    <a:moveTo>
                      <a:pt x="0" y="0"/>
                    </a:moveTo>
                    <a:lnTo>
                      <a:pt x="841248" y="0"/>
                    </a:lnTo>
                    <a:lnTo>
                      <a:pt x="841248" y="841248"/>
                    </a:lnTo>
                    <a:lnTo>
                      <a:pt x="0" y="84124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41248" cy="8793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+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567180" y="415036"/>
              <a:ext cx="8869680" cy="731520"/>
              <a:chOff x="0" y="0"/>
              <a:chExt cx="8869680" cy="73152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6968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869680">
                    <a:moveTo>
                      <a:pt x="0" y="0"/>
                    </a:moveTo>
                    <a:lnTo>
                      <a:pt x="8869680" y="0"/>
                    </a:lnTo>
                    <a:lnTo>
                      <a:pt x="886968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86256" r="0" b="-186256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8869680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b="true" sz="2100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Extension: similarity-fallback matcher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469900" y="1201420"/>
              <a:ext cx="9601200" cy="2926080"/>
              <a:chOff x="0" y="0"/>
              <a:chExt cx="9601200" cy="29260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601200" cy="2926080"/>
              </a:xfrm>
              <a:custGeom>
                <a:avLst/>
                <a:gdLst/>
                <a:ahLst/>
                <a:cxnLst/>
                <a:rect r="r" b="b" t="t" l="l"/>
                <a:pathLst>
                  <a:path h="2926080" w="9601200">
                    <a:moveTo>
                      <a:pt x="0" y="0"/>
                    </a:moveTo>
                    <a:lnTo>
                      <a:pt x="9601200" y="0"/>
                    </a:lnTo>
                    <a:lnTo>
                      <a:pt x="9601200" y="2926080"/>
                    </a:lnTo>
                    <a:lnTo>
                      <a:pt x="0" y="292608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3935" r="0" b="-13935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601200" cy="29641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70"/>
                  </a:lnSpc>
                </a:pPr>
                <a:r>
                  <a:rPr lang="en-US" sz="172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Went beyond exact-hash lookup: ja3/match.py adds a weighted-Jaccard similarity fallback (ciphers, extensions, curves, point formats) so a client whose fingerprint drifted slightly can still be recognized — flagged as an uncertain hint, never a false-certain match.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3851910" y="6627305"/>
            <a:ext cx="10767060" cy="2331720"/>
            <a:chOff x="0" y="0"/>
            <a:chExt cx="14356080" cy="310896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949440" cy="3108960"/>
              <a:chOff x="0" y="0"/>
              <a:chExt cx="6949440" cy="310896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949440" cy="3108960"/>
              </a:xfrm>
              <a:custGeom>
                <a:avLst/>
                <a:gdLst/>
                <a:ahLst/>
                <a:cxnLst/>
                <a:rect r="r" b="b" t="t" l="l"/>
                <a:pathLst>
                  <a:path h="3108960" w="6949440">
                    <a:moveTo>
                      <a:pt x="0" y="164592"/>
                    </a:moveTo>
                    <a:cubicBezTo>
                      <a:pt x="0" y="73660"/>
                      <a:pt x="73660" y="0"/>
                      <a:pt x="164592" y="0"/>
                    </a:cubicBezTo>
                    <a:lnTo>
                      <a:pt x="6784848" y="0"/>
                    </a:lnTo>
                    <a:cubicBezTo>
                      <a:pt x="6875780" y="0"/>
                      <a:pt x="6949440" y="73660"/>
                      <a:pt x="6949440" y="164592"/>
                    </a:cubicBezTo>
                    <a:lnTo>
                      <a:pt x="6949440" y="2944368"/>
                    </a:lnTo>
                    <a:cubicBezTo>
                      <a:pt x="6949440" y="3035300"/>
                      <a:pt x="6875780" y="3108960"/>
                      <a:pt x="6784848" y="3108960"/>
                    </a:cubicBezTo>
                    <a:lnTo>
                      <a:pt x="164592" y="3108960"/>
                    </a:lnTo>
                    <a:cubicBezTo>
                      <a:pt x="73660" y="3108960"/>
                      <a:pt x="0" y="3035300"/>
                      <a:pt x="0" y="2944368"/>
                    </a:cubicBezTo>
                    <a:close/>
                  </a:path>
                </a:pathLst>
              </a:custGeom>
              <a:solidFill>
                <a:srgbClr val="0D1B1E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329184"/>
              <a:ext cx="6949440" cy="1371600"/>
              <a:chOff x="0" y="0"/>
              <a:chExt cx="6949440" cy="1371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94944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6949440">
                    <a:moveTo>
                      <a:pt x="0" y="0"/>
                    </a:moveTo>
                    <a:lnTo>
                      <a:pt x="6949440" y="0"/>
                    </a:lnTo>
                    <a:lnTo>
                      <a:pt x="694944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48724" r="0" b="-48724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9525"/>
                <a:ext cx="6949440" cy="13811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7200"/>
                  </a:lnSpc>
                </a:pPr>
                <a:r>
                  <a:rPr lang="en-US" sz="6000" b="true">
                    <a:solidFill>
                      <a:srgbClr val="35C3D6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2/2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548640" y="1828800"/>
              <a:ext cx="5852160" cy="1097280"/>
              <a:chOff x="0" y="0"/>
              <a:chExt cx="5852160" cy="109728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85216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3920" r="0" b="-53920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5852160" cy="11353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70"/>
                  </a:lnSpc>
                </a:pPr>
                <a:r>
                  <a:rPr lang="en-US" sz="1725">
                    <a:solidFill>
                      <a:srgbClr val="C7D6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matched official Salesforce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725">
                    <a:solidFill>
                      <a:srgbClr val="C7D6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JA3 test vectors, exactly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7406640" y="0"/>
              <a:ext cx="6949440" cy="3108960"/>
              <a:chOff x="0" y="0"/>
              <a:chExt cx="6949440" cy="310896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949440" cy="3108960"/>
              </a:xfrm>
              <a:custGeom>
                <a:avLst/>
                <a:gdLst/>
                <a:ahLst/>
                <a:cxnLst/>
                <a:rect r="r" b="b" t="t" l="l"/>
                <a:pathLst>
                  <a:path h="3108960" w="6949440">
                    <a:moveTo>
                      <a:pt x="0" y="164592"/>
                    </a:moveTo>
                    <a:cubicBezTo>
                      <a:pt x="0" y="73660"/>
                      <a:pt x="73660" y="0"/>
                      <a:pt x="164592" y="0"/>
                    </a:cubicBezTo>
                    <a:lnTo>
                      <a:pt x="6784848" y="0"/>
                    </a:lnTo>
                    <a:cubicBezTo>
                      <a:pt x="6875780" y="0"/>
                      <a:pt x="6949440" y="73660"/>
                      <a:pt x="6949440" y="164592"/>
                    </a:cubicBezTo>
                    <a:lnTo>
                      <a:pt x="6949440" y="2944368"/>
                    </a:lnTo>
                    <a:cubicBezTo>
                      <a:pt x="6949440" y="3035300"/>
                      <a:pt x="6875780" y="3108960"/>
                      <a:pt x="6784848" y="3108960"/>
                    </a:cubicBezTo>
                    <a:lnTo>
                      <a:pt x="164592" y="3108960"/>
                    </a:lnTo>
                    <a:cubicBezTo>
                      <a:pt x="73660" y="3108960"/>
                      <a:pt x="0" y="3035300"/>
                      <a:pt x="0" y="2944368"/>
                    </a:cubicBezTo>
                    <a:close/>
                  </a:path>
                </a:pathLst>
              </a:custGeom>
              <a:solidFill>
                <a:srgbClr val="0D1B1E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7955280" y="1828800"/>
              <a:ext cx="5852160" cy="1097280"/>
              <a:chOff x="0" y="0"/>
              <a:chExt cx="5852160" cy="109728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85216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3920" r="0" b="-53920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5852160" cy="11353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70"/>
                  </a:lnSpc>
                </a:pPr>
                <a:r>
                  <a:rPr lang="en-US" sz="1725">
                    <a:solidFill>
                      <a:srgbClr val="C7D6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 clients identified live</a:t>
                </a: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0001951" y="309104"/>
              <a:ext cx="1758818" cy="137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04"/>
                </a:lnSpc>
              </a:pPr>
              <a:r>
                <a:rPr lang="en-US" b="true" sz="6146">
                  <a:solidFill>
                    <a:srgbClr val="35C3D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6/6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36100"/>
            <a:ext cx="15531868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nantason UltraExpanded Light"/>
                <a:ea typeface="Anantason UltraExpanded Light"/>
                <a:cs typeface="Anantason UltraExpanded Light"/>
                <a:sym typeface="Anantason UltraExpanded Light"/>
              </a:rPr>
              <a:t>5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2051165"/>
            <a:ext cx="18288000" cy="6184669"/>
          </a:xfrm>
          <a:custGeom>
            <a:avLst/>
            <a:gdLst/>
            <a:ahLst/>
            <a:cxnLst/>
            <a:rect r="r" b="b" t="t" l="l"/>
            <a:pathLst>
              <a:path h="6184669" w="18288000">
                <a:moveTo>
                  <a:pt x="0" y="0"/>
                </a:moveTo>
                <a:lnTo>
                  <a:pt x="18288000" y="0"/>
                </a:lnTo>
                <a:lnTo>
                  <a:pt x="18288000" y="6184670"/>
                </a:lnTo>
                <a:lnTo>
                  <a:pt x="0" y="6184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82980" y="822960"/>
            <a:ext cx="10972800" cy="593674"/>
            <a:chOff x="0" y="0"/>
            <a:chExt cx="14630400" cy="791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791566"/>
            </a:xfrm>
            <a:custGeom>
              <a:avLst/>
              <a:gdLst/>
              <a:ahLst/>
              <a:cxnLst/>
              <a:rect r="r" b="b" t="t" l="l"/>
              <a:pathLst>
                <a:path h="7915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91566"/>
                  </a:lnTo>
                  <a:lnTo>
                    <a:pt x="0" y="791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9708" r="0" b="-3005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801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spc="366">
                  <a:solidFill>
                    <a:srgbClr val="35C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04 · NON-FUNCTIONAL TESTING PARAMETERS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2980" y="1275588"/>
            <a:ext cx="16184880" cy="1234440"/>
            <a:chOff x="0" y="0"/>
            <a:chExt cx="2157984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 measured beyond “does it work”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3455" y="2637663"/>
            <a:ext cx="16341090" cy="1116330"/>
            <a:chOff x="0" y="0"/>
            <a:chExt cx="21788120" cy="1488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88120" cy="1488313"/>
            </a:xfrm>
            <a:custGeom>
              <a:avLst/>
              <a:gdLst/>
              <a:ahLst/>
              <a:cxnLst/>
              <a:rect r="r" b="b" t="t" l="l"/>
              <a:pathLst>
                <a:path h="1488313" w="21788120">
                  <a:moveTo>
                    <a:pt x="0" y="130175"/>
                  </a:moveTo>
                  <a:cubicBezTo>
                    <a:pt x="0" y="58293"/>
                    <a:pt x="58293" y="0"/>
                    <a:pt x="130175" y="0"/>
                  </a:cubicBezTo>
                  <a:lnTo>
                    <a:pt x="21657945" y="0"/>
                  </a:lnTo>
                  <a:cubicBezTo>
                    <a:pt x="21729827" y="0"/>
                    <a:pt x="21788120" y="58293"/>
                    <a:pt x="21788120" y="130175"/>
                  </a:cubicBezTo>
                  <a:lnTo>
                    <a:pt x="21788120" y="1358138"/>
                  </a:lnTo>
                  <a:cubicBezTo>
                    <a:pt x="21788120" y="1430020"/>
                    <a:pt x="21729827" y="1488313"/>
                    <a:pt x="21657945" y="1488313"/>
                  </a:cubicBezTo>
                  <a:lnTo>
                    <a:pt x="130175" y="1488313"/>
                  </a:lnTo>
                  <a:cubicBezTo>
                    <a:pt x="58293" y="1488440"/>
                    <a:pt x="0" y="1430147"/>
                    <a:pt x="0" y="135813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25880" y="2839212"/>
            <a:ext cx="2743200" cy="713232"/>
            <a:chOff x="0" y="0"/>
            <a:chExt cx="3657600" cy="9509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950976"/>
            </a:xfrm>
            <a:custGeom>
              <a:avLst/>
              <a:gdLst/>
              <a:ahLst/>
              <a:cxnLst/>
              <a:rect r="r" b="b" t="t" l="l"/>
              <a:pathLst>
                <a:path h="950976" w="3657600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lnTo>
                    <a:pt x="3182112" y="0"/>
                  </a:lnTo>
                  <a:cubicBezTo>
                    <a:pt x="3444748" y="0"/>
                    <a:pt x="3657600" y="212852"/>
                    <a:pt x="3657600" y="475488"/>
                  </a:cubicBezTo>
                  <a:cubicBezTo>
                    <a:pt x="3657600" y="738124"/>
                    <a:pt x="3444748" y="950976"/>
                    <a:pt x="3182112" y="950976"/>
                  </a:cubicBezTo>
                  <a:lnTo>
                    <a:pt x="475488" y="950976"/>
                  </a:ln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E5F3E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5880" y="2839212"/>
            <a:ext cx="2743200" cy="713232"/>
            <a:chOff x="0" y="0"/>
            <a:chExt cx="3657600" cy="9509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950976"/>
            </a:xfrm>
            <a:custGeom>
              <a:avLst/>
              <a:gdLst/>
              <a:ahLst/>
              <a:cxnLst/>
              <a:rect r="r" b="b" t="t" l="l"/>
              <a:pathLst>
                <a:path h="95097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65760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F7D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Correctness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411980" y="2756916"/>
            <a:ext cx="12618720" cy="932688"/>
            <a:chOff x="0" y="0"/>
            <a:chExt cx="16824960" cy="12435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24961" cy="1243584"/>
            </a:xfrm>
            <a:custGeom>
              <a:avLst/>
              <a:gdLst/>
              <a:ahLst/>
              <a:cxnLst/>
              <a:rect r="r" b="b" t="t" l="l"/>
              <a:pathLst>
                <a:path h="1243584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621" r="0" b="-2136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82496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external published JA3 vectors matched exactly — not just internal self-consistency.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3455" y="3899535"/>
            <a:ext cx="16341090" cy="1116330"/>
            <a:chOff x="0" y="0"/>
            <a:chExt cx="21788120" cy="1488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88120" cy="1488313"/>
            </a:xfrm>
            <a:custGeom>
              <a:avLst/>
              <a:gdLst/>
              <a:ahLst/>
              <a:cxnLst/>
              <a:rect r="r" b="b" t="t" l="l"/>
              <a:pathLst>
                <a:path h="1488313" w="21788120">
                  <a:moveTo>
                    <a:pt x="0" y="130175"/>
                  </a:moveTo>
                  <a:cubicBezTo>
                    <a:pt x="0" y="58293"/>
                    <a:pt x="58293" y="0"/>
                    <a:pt x="130175" y="0"/>
                  </a:cubicBezTo>
                  <a:lnTo>
                    <a:pt x="21657945" y="0"/>
                  </a:lnTo>
                  <a:cubicBezTo>
                    <a:pt x="21729827" y="0"/>
                    <a:pt x="21788120" y="58293"/>
                    <a:pt x="21788120" y="130175"/>
                  </a:cubicBezTo>
                  <a:lnTo>
                    <a:pt x="21788120" y="1358138"/>
                  </a:lnTo>
                  <a:cubicBezTo>
                    <a:pt x="21788120" y="1430020"/>
                    <a:pt x="21729827" y="1488313"/>
                    <a:pt x="21657945" y="1488313"/>
                  </a:cubicBezTo>
                  <a:lnTo>
                    <a:pt x="130175" y="1488313"/>
                  </a:lnTo>
                  <a:cubicBezTo>
                    <a:pt x="58293" y="1488440"/>
                    <a:pt x="0" y="1430147"/>
                    <a:pt x="0" y="135813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DBE3E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25880" y="4101084"/>
            <a:ext cx="2743200" cy="713232"/>
            <a:chOff x="0" y="0"/>
            <a:chExt cx="3657600" cy="9509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950976"/>
            </a:xfrm>
            <a:custGeom>
              <a:avLst/>
              <a:gdLst/>
              <a:ahLst/>
              <a:cxnLst/>
              <a:rect r="r" b="b" t="t" l="l"/>
              <a:pathLst>
                <a:path h="950976" w="3657600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lnTo>
                    <a:pt x="3182112" y="0"/>
                  </a:lnTo>
                  <a:cubicBezTo>
                    <a:pt x="3444748" y="0"/>
                    <a:pt x="3657600" y="212852"/>
                    <a:pt x="3657600" y="475488"/>
                  </a:cubicBezTo>
                  <a:cubicBezTo>
                    <a:pt x="3657600" y="738124"/>
                    <a:pt x="3444748" y="950976"/>
                    <a:pt x="3182112" y="950976"/>
                  </a:cubicBezTo>
                  <a:lnTo>
                    <a:pt x="475488" y="950976"/>
                  </a:ln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BEFD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25880" y="4101084"/>
            <a:ext cx="2743200" cy="713232"/>
            <a:chOff x="0" y="0"/>
            <a:chExt cx="3657600" cy="9509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950976"/>
            </a:xfrm>
            <a:custGeom>
              <a:avLst/>
              <a:gdLst/>
              <a:ahLst/>
              <a:cxnLst/>
              <a:rect r="r" b="b" t="t" l="l"/>
              <a:pathLst>
                <a:path h="95097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65760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B573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Reliability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411980" y="4018788"/>
            <a:ext cx="12618720" cy="932688"/>
            <a:chOff x="0" y="0"/>
            <a:chExt cx="16824960" cy="1243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824961" cy="1243584"/>
            </a:xfrm>
            <a:custGeom>
              <a:avLst/>
              <a:gdLst/>
              <a:ahLst/>
              <a:cxnLst/>
              <a:rect r="r" b="b" t="t" l="l"/>
              <a:pathLst>
                <a:path h="1243584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621" r="0" b="-21362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682496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client (curl) produced 2 structurally different fingerprints across sessions on one machine — an unforced, real finding, now documented and mitigated.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3455" y="5158740"/>
            <a:ext cx="16341090" cy="1116330"/>
            <a:chOff x="0" y="0"/>
            <a:chExt cx="21788120" cy="148844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1788120" cy="1488440"/>
              <a:chOff x="0" y="0"/>
              <a:chExt cx="21788120" cy="148844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788120" cy="1488313"/>
              </a:xfrm>
              <a:custGeom>
                <a:avLst/>
                <a:gdLst/>
                <a:ahLst/>
                <a:cxnLst/>
                <a:rect r="r" b="b" t="t" l="l"/>
                <a:pathLst>
                  <a:path h="1488313" w="21788120">
                    <a:moveTo>
                      <a:pt x="0" y="130175"/>
                    </a:moveTo>
                    <a:cubicBezTo>
                      <a:pt x="0" y="58293"/>
                      <a:pt x="58293" y="0"/>
                      <a:pt x="130175" y="0"/>
                    </a:cubicBezTo>
                    <a:lnTo>
                      <a:pt x="21657945" y="0"/>
                    </a:lnTo>
                    <a:cubicBezTo>
                      <a:pt x="21729827" y="0"/>
                      <a:pt x="21788120" y="58293"/>
                      <a:pt x="21788120" y="130175"/>
                    </a:cubicBezTo>
                    <a:lnTo>
                      <a:pt x="21788120" y="1358138"/>
                    </a:lnTo>
                    <a:cubicBezTo>
                      <a:pt x="21788120" y="1430020"/>
                      <a:pt x="21729827" y="1488313"/>
                      <a:pt x="21657945" y="1488313"/>
                    </a:cubicBezTo>
                    <a:lnTo>
                      <a:pt x="130175" y="1488313"/>
                    </a:lnTo>
                    <a:cubicBezTo>
                      <a:pt x="58293" y="1488440"/>
                      <a:pt x="0" y="1430147"/>
                      <a:pt x="0" y="135813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533CD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2700000"/>
              </a:gradFill>
              <a:ln w="19050" cap="sq">
                <a:solidFill>
                  <a:srgbClr val="DBE3E6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469900" y="268732"/>
              <a:ext cx="3657600" cy="950976"/>
              <a:chOff x="0" y="0"/>
              <a:chExt cx="3657600" cy="9509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657600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3657600">
                    <a:moveTo>
                      <a:pt x="0" y="475488"/>
                    </a:moveTo>
                    <a:cubicBezTo>
                      <a:pt x="0" y="212852"/>
                      <a:pt x="212852" y="0"/>
                      <a:pt x="475488" y="0"/>
                    </a:cubicBezTo>
                    <a:lnTo>
                      <a:pt x="3182112" y="0"/>
                    </a:lnTo>
                    <a:cubicBezTo>
                      <a:pt x="3444748" y="0"/>
                      <a:pt x="3657600" y="212852"/>
                      <a:pt x="3657600" y="475488"/>
                    </a:cubicBezTo>
                    <a:cubicBezTo>
                      <a:pt x="3657600" y="738124"/>
                      <a:pt x="3444748" y="950976"/>
                      <a:pt x="3182112" y="950976"/>
                    </a:cubicBezTo>
                    <a:lnTo>
                      <a:pt x="475488" y="950976"/>
                    </a:lnTo>
                    <a:cubicBezTo>
                      <a:pt x="212852" y="950976"/>
                      <a:pt x="0" y="738124"/>
                      <a:pt x="0" y="475488"/>
                    </a:cubicBezTo>
                    <a:close/>
                  </a:path>
                </a:pathLst>
              </a:custGeom>
              <a:solidFill>
                <a:srgbClr val="E5F3E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469900" y="268732"/>
              <a:ext cx="3657600" cy="950976"/>
              <a:chOff x="0" y="0"/>
              <a:chExt cx="3657600" cy="95097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657600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4942" r="0" b="-24942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3657600" cy="96050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2F7D4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Real-time performance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584700" y="159004"/>
              <a:ext cx="16824960" cy="1243584"/>
              <a:chOff x="0" y="0"/>
              <a:chExt cx="16824960" cy="124358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6824961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6824961">
                    <a:moveTo>
                      <a:pt x="0" y="0"/>
                    </a:moveTo>
                    <a:lnTo>
                      <a:pt x="16824961" y="0"/>
                    </a:lnTo>
                    <a:lnTo>
                      <a:pt x="16824961" y="1243584"/>
                    </a:lnTo>
                    <a:lnTo>
                      <a:pt x="0" y="124358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13621" r="0" b="-213621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6824960" cy="12816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70"/>
                  </a:lnSpc>
                </a:pPr>
                <a:r>
                  <a:rPr lang="en-US" sz="172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Live capture + hash + lookup completes per-packet.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36100"/>
            <a:ext cx="15531868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nantason UltraExpanded Light"/>
                <a:ea typeface="Anantason UltraExpanded Light"/>
                <a:cs typeface="Anantason UltraExpanded Light"/>
                <a:sym typeface="Anantason UltraExpanded Light"/>
              </a:rPr>
              <a:t>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2051165"/>
            <a:ext cx="18288000" cy="6184669"/>
          </a:xfrm>
          <a:custGeom>
            <a:avLst/>
            <a:gdLst/>
            <a:ahLst/>
            <a:cxnLst/>
            <a:rect r="r" b="b" t="t" l="l"/>
            <a:pathLst>
              <a:path h="6184669" w="18288000">
                <a:moveTo>
                  <a:pt x="0" y="0"/>
                </a:moveTo>
                <a:lnTo>
                  <a:pt x="18288000" y="0"/>
                </a:lnTo>
                <a:lnTo>
                  <a:pt x="18288000" y="6184670"/>
                </a:lnTo>
                <a:lnTo>
                  <a:pt x="0" y="6184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38225" y="740664"/>
            <a:ext cx="10972800" cy="593674"/>
            <a:chOff x="0" y="0"/>
            <a:chExt cx="14630400" cy="791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791566"/>
            </a:xfrm>
            <a:custGeom>
              <a:avLst/>
              <a:gdLst/>
              <a:ahLst/>
              <a:cxnLst/>
              <a:rect r="r" b="b" t="t" l="l"/>
              <a:pathLst>
                <a:path h="7915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91566"/>
                  </a:lnTo>
                  <a:lnTo>
                    <a:pt x="0" y="791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9708" r="0" b="-3005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801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spc="366">
                  <a:solidFill>
                    <a:srgbClr val="35C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05 · CHALLENGES FACED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8225" y="1193292"/>
            <a:ext cx="16184880" cy="1234440"/>
            <a:chOff x="0" y="0"/>
            <a:chExt cx="2157984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actually went wrong — and what it taught us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761107"/>
            <a:ext cx="3036570" cy="6328410"/>
            <a:chOff x="0" y="0"/>
            <a:chExt cx="4048760" cy="8437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48760" cy="8437880"/>
            </a:xfrm>
            <a:custGeom>
              <a:avLst/>
              <a:gdLst/>
              <a:ahLst/>
              <a:cxnLst/>
              <a:rect r="r" b="b" t="t" l="l"/>
              <a:pathLst>
                <a:path h="8437880" w="404876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883152" y="0"/>
                  </a:lnTo>
                  <a:cubicBezTo>
                    <a:pt x="3974592" y="0"/>
                    <a:pt x="4048760" y="74168"/>
                    <a:pt x="4048760" y="165608"/>
                  </a:cubicBezTo>
                  <a:lnTo>
                    <a:pt x="4048760" y="8272272"/>
                  </a:lnTo>
                  <a:cubicBezTo>
                    <a:pt x="4048760" y="8363712"/>
                    <a:pt x="3974592" y="8437880"/>
                    <a:pt x="3883152" y="8437880"/>
                  </a:cubicBezTo>
                  <a:lnTo>
                    <a:pt x="165608" y="8437880"/>
                  </a:lnTo>
                  <a:cubicBezTo>
                    <a:pt x="74168" y="8437880"/>
                    <a:pt x="0" y="8363712"/>
                    <a:pt x="0" y="827227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26353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12545" y="3072384"/>
            <a:ext cx="630936" cy="630936"/>
            <a:chOff x="0" y="0"/>
            <a:chExt cx="841248" cy="841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E3A2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2545" y="3051810"/>
            <a:ext cx="630936" cy="630936"/>
            <a:chOff x="0" y="0"/>
            <a:chExt cx="841248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5113" y="4005072"/>
            <a:ext cx="2523744" cy="1739469"/>
            <a:chOff x="0" y="0"/>
            <a:chExt cx="3364992" cy="23192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64992" cy="2319292"/>
            </a:xfrm>
            <a:custGeom>
              <a:avLst/>
              <a:gdLst/>
              <a:ahLst/>
              <a:cxnLst/>
              <a:rect r="r" b="b" t="t" l="l"/>
              <a:pathLst>
                <a:path h="2319292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9292"/>
                  </a:lnTo>
                  <a:lnTo>
                    <a:pt x="0" y="23192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70" t="0" r="-9270" b="329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364992" cy="2328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Fingerprint instability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5113" y="5170932"/>
            <a:ext cx="2523744" cy="3771900"/>
            <a:chOff x="0" y="0"/>
            <a:chExt cx="3364992" cy="502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64992" cy="5029200"/>
            </a:xfrm>
            <a:custGeom>
              <a:avLst/>
              <a:gdLst/>
              <a:ahLst/>
              <a:cxnLst/>
              <a:rect r="r" b="b" t="t" l="l"/>
              <a:pathLst>
                <a:path h="50292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029200"/>
                  </a:lnTo>
                  <a:lnTo>
                    <a:pt x="0" y="502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758" t="0" r="-14175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364992" cy="505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AEC2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same client produced different hashes across sessions and machines — the single biggest unplanned finding of the project, not a staged demo.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251960" y="2761107"/>
            <a:ext cx="3036570" cy="6328410"/>
            <a:chOff x="0" y="0"/>
            <a:chExt cx="4048760" cy="8437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48760" cy="8437880"/>
            </a:xfrm>
            <a:custGeom>
              <a:avLst/>
              <a:gdLst/>
              <a:ahLst/>
              <a:cxnLst/>
              <a:rect r="r" b="b" t="t" l="l"/>
              <a:pathLst>
                <a:path h="8437880" w="404876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883152" y="0"/>
                  </a:lnTo>
                  <a:cubicBezTo>
                    <a:pt x="3974592" y="0"/>
                    <a:pt x="4048760" y="74168"/>
                    <a:pt x="4048760" y="165608"/>
                  </a:cubicBezTo>
                  <a:lnTo>
                    <a:pt x="4048760" y="8272272"/>
                  </a:lnTo>
                  <a:cubicBezTo>
                    <a:pt x="4048760" y="8363712"/>
                    <a:pt x="3974592" y="8437880"/>
                    <a:pt x="3883152" y="8437880"/>
                  </a:cubicBezTo>
                  <a:lnTo>
                    <a:pt x="165608" y="8437880"/>
                  </a:lnTo>
                  <a:cubicBezTo>
                    <a:pt x="74168" y="8437880"/>
                    <a:pt x="0" y="8363712"/>
                    <a:pt x="0" y="827227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26353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535805" y="3072384"/>
            <a:ext cx="630936" cy="630936"/>
            <a:chOff x="0" y="0"/>
            <a:chExt cx="841248" cy="841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E3A2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535805" y="3051810"/>
            <a:ext cx="630936" cy="630936"/>
            <a:chOff x="0" y="0"/>
            <a:chExt cx="841248" cy="8412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508373" y="4005072"/>
            <a:ext cx="2523744" cy="1739469"/>
            <a:chOff x="0" y="0"/>
            <a:chExt cx="3364992" cy="23192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64992" cy="2319292"/>
            </a:xfrm>
            <a:custGeom>
              <a:avLst/>
              <a:gdLst/>
              <a:ahLst/>
              <a:cxnLst/>
              <a:rect r="r" b="b" t="t" l="l"/>
              <a:pathLst>
                <a:path h="2319292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9292"/>
                  </a:lnTo>
                  <a:lnTo>
                    <a:pt x="0" y="23192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70" t="0" r="-9270" b="3297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364992" cy="2328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Raw </a:t>
              </a:r>
              <a:r>
                <a:rPr lang="en-US" sz="197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TLS packet parsing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508373" y="5170932"/>
            <a:ext cx="2523744" cy="3771900"/>
            <a:chOff x="0" y="0"/>
            <a:chExt cx="3364992" cy="502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64992" cy="5029200"/>
            </a:xfrm>
            <a:custGeom>
              <a:avLst/>
              <a:gdLst/>
              <a:ahLst/>
              <a:cxnLst/>
              <a:rect r="r" b="b" t="t" l="l"/>
              <a:pathLst>
                <a:path h="50292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029200"/>
                  </a:lnTo>
                  <a:lnTo>
                    <a:pt x="0" y="502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758" t="0" r="-141758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364992" cy="505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AEC2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</a:t>
              </a:r>
              <a:r>
                <a:rPr lang="en-US" sz="1599">
                  <a:solidFill>
                    <a:srgbClr val="AEC2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nderstanding the byte-level structure of ClientHello/ServerHello and correctly extracting the fields required for JA3/JA3S.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75220" y="2761107"/>
            <a:ext cx="3036570" cy="6328410"/>
            <a:chOff x="0" y="0"/>
            <a:chExt cx="4048760" cy="8437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8760" cy="8437880"/>
            </a:xfrm>
            <a:custGeom>
              <a:avLst/>
              <a:gdLst/>
              <a:ahLst/>
              <a:cxnLst/>
              <a:rect r="r" b="b" t="t" l="l"/>
              <a:pathLst>
                <a:path h="8437880" w="404876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883152" y="0"/>
                  </a:lnTo>
                  <a:cubicBezTo>
                    <a:pt x="3974592" y="0"/>
                    <a:pt x="4048760" y="74168"/>
                    <a:pt x="4048760" y="165608"/>
                  </a:cubicBezTo>
                  <a:lnTo>
                    <a:pt x="4048760" y="8272272"/>
                  </a:lnTo>
                  <a:cubicBezTo>
                    <a:pt x="4048760" y="8363712"/>
                    <a:pt x="3974592" y="8437880"/>
                    <a:pt x="3883152" y="8437880"/>
                  </a:cubicBezTo>
                  <a:lnTo>
                    <a:pt x="165608" y="8437880"/>
                  </a:lnTo>
                  <a:cubicBezTo>
                    <a:pt x="74168" y="8437880"/>
                    <a:pt x="0" y="8363712"/>
                    <a:pt x="0" y="827227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26353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759065" y="3072384"/>
            <a:ext cx="630936" cy="630936"/>
            <a:chOff x="0" y="0"/>
            <a:chExt cx="841248" cy="8412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E3A24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759065" y="3051810"/>
            <a:ext cx="630936" cy="630936"/>
            <a:chOff x="0" y="0"/>
            <a:chExt cx="841248" cy="8412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731633" y="4005072"/>
            <a:ext cx="2523744" cy="1444194"/>
            <a:chOff x="0" y="0"/>
            <a:chExt cx="3364992" cy="1925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64992" cy="1925592"/>
            </a:xfrm>
            <a:custGeom>
              <a:avLst/>
              <a:gdLst/>
              <a:ahLst/>
              <a:cxnLst/>
              <a:rect r="r" b="b" t="t" l="l"/>
              <a:pathLst>
                <a:path h="1925592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25592"/>
                  </a:lnTo>
                  <a:lnTo>
                    <a:pt x="0" y="192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70" t="0" r="-9270" b="192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364992" cy="1935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TCP segmentation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731633" y="5170932"/>
            <a:ext cx="2523744" cy="3771900"/>
            <a:chOff x="0" y="0"/>
            <a:chExt cx="3364992" cy="502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64992" cy="5029200"/>
            </a:xfrm>
            <a:custGeom>
              <a:avLst/>
              <a:gdLst/>
              <a:ahLst/>
              <a:cxnLst/>
              <a:rect r="r" b="b" t="t" l="l"/>
              <a:pathLst>
                <a:path h="50292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029200"/>
                  </a:lnTo>
                  <a:lnTo>
                    <a:pt x="0" y="502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758" t="0" r="-14175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3364992" cy="505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AEC2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Python's larger ClientHello (1535B) was observed split across TCP segments, exceeding our single-segment capture assumption — a real, diagnosed miss, not a hidden one.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98480" y="2761107"/>
            <a:ext cx="3036570" cy="6328410"/>
            <a:chOff x="0" y="0"/>
            <a:chExt cx="4048760" cy="8437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48760" cy="8437880"/>
            </a:xfrm>
            <a:custGeom>
              <a:avLst/>
              <a:gdLst/>
              <a:ahLst/>
              <a:cxnLst/>
              <a:rect r="r" b="b" t="t" l="l"/>
              <a:pathLst>
                <a:path h="8437880" w="404876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883152" y="0"/>
                  </a:lnTo>
                  <a:cubicBezTo>
                    <a:pt x="3974592" y="0"/>
                    <a:pt x="4048760" y="74168"/>
                    <a:pt x="4048760" y="165608"/>
                  </a:cubicBezTo>
                  <a:lnTo>
                    <a:pt x="4048760" y="8272272"/>
                  </a:lnTo>
                  <a:cubicBezTo>
                    <a:pt x="4048760" y="8363712"/>
                    <a:pt x="3974592" y="8437880"/>
                    <a:pt x="3883152" y="8437880"/>
                  </a:cubicBezTo>
                  <a:lnTo>
                    <a:pt x="165608" y="8437880"/>
                  </a:lnTo>
                  <a:cubicBezTo>
                    <a:pt x="74168" y="8437880"/>
                    <a:pt x="0" y="8363712"/>
                    <a:pt x="0" y="827227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26353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982325" y="3072384"/>
            <a:ext cx="630936" cy="630936"/>
            <a:chOff x="0" y="0"/>
            <a:chExt cx="841248" cy="8412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E3A24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982325" y="3051810"/>
            <a:ext cx="630936" cy="630936"/>
            <a:chOff x="0" y="0"/>
            <a:chExt cx="841248" cy="8412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954893" y="4005072"/>
            <a:ext cx="2523744" cy="1444194"/>
            <a:chOff x="0" y="0"/>
            <a:chExt cx="3364992" cy="1925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64992" cy="1925592"/>
            </a:xfrm>
            <a:custGeom>
              <a:avLst/>
              <a:gdLst/>
              <a:ahLst/>
              <a:cxnLst/>
              <a:rect r="r" b="b" t="t" l="l"/>
              <a:pathLst>
                <a:path h="1925592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25592"/>
                  </a:lnTo>
                  <a:lnTo>
                    <a:pt x="0" y="192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70" t="0" r="-9270" b="1927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364992" cy="1935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GREASE</a:t>
              </a:r>
              <a:r>
                <a:rPr lang="en-US" sz="197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handling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954893" y="5170932"/>
            <a:ext cx="2523744" cy="3771900"/>
            <a:chOff x="0" y="0"/>
            <a:chExt cx="3364992" cy="502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64992" cy="5029200"/>
            </a:xfrm>
            <a:custGeom>
              <a:avLst/>
              <a:gdLst/>
              <a:ahLst/>
              <a:cxnLst/>
              <a:rect r="r" b="b" t="t" l="l"/>
              <a:pathLst>
                <a:path h="50292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029200"/>
                  </a:lnTo>
                  <a:lnTo>
                    <a:pt x="0" y="502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758" t="0" r="-14175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3364992" cy="505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AEC2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</a:t>
              </a:r>
              <a:r>
                <a:rPr lang="en-US" sz="1599">
                  <a:solidFill>
                    <a:srgbClr val="AEC2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rstanding why GREASE values appear in modern TLS handshakes and ensuring they are removed correctly during JA3 calculation.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921740" y="2761107"/>
            <a:ext cx="3036570" cy="6328410"/>
            <a:chOff x="0" y="0"/>
            <a:chExt cx="4048760" cy="8437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48760" cy="8437880"/>
            </a:xfrm>
            <a:custGeom>
              <a:avLst/>
              <a:gdLst/>
              <a:ahLst/>
              <a:cxnLst/>
              <a:rect r="r" b="b" t="t" l="l"/>
              <a:pathLst>
                <a:path h="8437880" w="404876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883152" y="0"/>
                  </a:lnTo>
                  <a:cubicBezTo>
                    <a:pt x="3974592" y="0"/>
                    <a:pt x="4048760" y="74168"/>
                    <a:pt x="4048760" y="165608"/>
                  </a:cubicBezTo>
                  <a:lnTo>
                    <a:pt x="4048760" y="8272272"/>
                  </a:lnTo>
                  <a:cubicBezTo>
                    <a:pt x="4048760" y="8363712"/>
                    <a:pt x="3974592" y="8437880"/>
                    <a:pt x="3883152" y="8437880"/>
                  </a:cubicBezTo>
                  <a:lnTo>
                    <a:pt x="165608" y="8437880"/>
                  </a:lnTo>
                  <a:cubicBezTo>
                    <a:pt x="74168" y="8437880"/>
                    <a:pt x="0" y="8363712"/>
                    <a:pt x="0" y="827227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33C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263539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205585" y="3072384"/>
            <a:ext cx="630936" cy="630936"/>
            <a:chOff x="0" y="0"/>
            <a:chExt cx="841248" cy="8412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E3A24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205585" y="3051810"/>
            <a:ext cx="630936" cy="630936"/>
            <a:chOff x="0" y="0"/>
            <a:chExt cx="841248" cy="8412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4124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178153" y="4005072"/>
            <a:ext cx="2523744" cy="1739469"/>
            <a:chOff x="0" y="0"/>
            <a:chExt cx="3364992" cy="23192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64992" cy="2319292"/>
            </a:xfrm>
            <a:custGeom>
              <a:avLst/>
              <a:gdLst/>
              <a:ahLst/>
              <a:cxnLst/>
              <a:rect r="r" b="b" t="t" l="l"/>
              <a:pathLst>
                <a:path h="2319292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9292"/>
                  </a:lnTo>
                  <a:lnTo>
                    <a:pt x="0" y="23192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70" t="0" r="-9270" b="3297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3364992" cy="2328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Fuzzy matching</a:t>
              </a:r>
              <a:r>
                <a:rPr lang="en-US" sz="197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failing sometimes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178153" y="5170932"/>
            <a:ext cx="2523744" cy="3771900"/>
            <a:chOff x="0" y="0"/>
            <a:chExt cx="3364992" cy="5029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364992" cy="5029200"/>
            </a:xfrm>
            <a:custGeom>
              <a:avLst/>
              <a:gdLst/>
              <a:ahLst/>
              <a:cxnLst/>
              <a:rect r="r" b="b" t="t" l="l"/>
              <a:pathLst>
                <a:path h="50292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029200"/>
                  </a:lnTo>
                  <a:lnTo>
                    <a:pt x="0" y="502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758" t="0" r="-141758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364992" cy="505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AEC2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  <a:r>
                <a:rPr lang="en-US" sz="1599">
                  <a:solidFill>
                    <a:srgbClr val="AEC2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uzzy matching for curl sometimes failed because small changes in TLS parameters, such as cipher/extension lists, could reduce the similarity score below the selected threshold.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DAHU0KJxTaQ</dc:identifier>
  <dcterms:modified xsi:type="dcterms:W3CDTF">2011-08-01T06:04:30Z</dcterms:modified>
  <cp:revision>1</cp:revision>
  <dc:title>Blue and Black Elegant Minimalist Creative Brief Presentation</dc:title>
</cp:coreProperties>
</file>